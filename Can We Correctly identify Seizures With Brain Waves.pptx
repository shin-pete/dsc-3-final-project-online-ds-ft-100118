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25" r:id="rId1"/>
  </p:sldMasterIdLst>
  <p:sldIdLst>
    <p:sldId id="256" r:id="rId2"/>
    <p:sldId id="258" r:id="rId3"/>
    <p:sldId id="259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623884-6D9B-43D6-8336-A053F7483B43}" type="doc">
      <dgm:prSet loTypeId="urn:microsoft.com/office/officeart/2005/8/layout/bProcess2" loCatId="process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8D21638-F64B-4472-B1F9-638083A83DC7}">
      <dgm:prSet/>
      <dgm:spPr/>
      <dgm:t>
        <a:bodyPr/>
        <a:lstStyle/>
        <a:p>
          <a:r>
            <a:rPr lang="en-US"/>
            <a:t>We used the Epileptic Seizure Recognition Data Set</a:t>
          </a:r>
        </a:p>
      </dgm:t>
    </dgm:pt>
    <dgm:pt modelId="{D1C06EBA-898A-416E-BC31-3612EB7DB6F4}" type="parTrans" cxnId="{BA89C0D5-3C6D-4669-A5D6-FB297EE0FE5B}">
      <dgm:prSet/>
      <dgm:spPr/>
      <dgm:t>
        <a:bodyPr/>
        <a:lstStyle/>
        <a:p>
          <a:endParaRPr lang="en-US"/>
        </a:p>
      </dgm:t>
    </dgm:pt>
    <dgm:pt modelId="{CC8444AD-5EC4-43C2-AF63-CACD7BD87212}" type="sibTrans" cxnId="{BA89C0D5-3C6D-4669-A5D6-FB297EE0FE5B}">
      <dgm:prSet/>
      <dgm:spPr/>
      <dgm:t>
        <a:bodyPr/>
        <a:lstStyle/>
        <a:p>
          <a:endParaRPr lang="en-US"/>
        </a:p>
      </dgm:t>
    </dgm:pt>
    <dgm:pt modelId="{710B5AB7-E6EC-445F-9961-B6EC078538A5}">
      <dgm:prSet/>
      <dgm:spPr/>
      <dgm:t>
        <a:bodyPr/>
        <a:lstStyle/>
        <a:p>
          <a:r>
            <a:rPr lang="en-US" dirty="0"/>
            <a:t>It tracked the brain wave activity of 500 different individuals over the course of 23 seconds. </a:t>
          </a:r>
        </a:p>
      </dgm:t>
    </dgm:pt>
    <dgm:pt modelId="{948F3238-4EFD-4DC9-B87E-5631A8D6428B}" type="parTrans" cxnId="{1B80481C-1784-48CC-A10E-83FF7D8B2873}">
      <dgm:prSet/>
      <dgm:spPr/>
      <dgm:t>
        <a:bodyPr/>
        <a:lstStyle/>
        <a:p>
          <a:endParaRPr lang="en-US"/>
        </a:p>
      </dgm:t>
    </dgm:pt>
    <dgm:pt modelId="{EA30F985-37DC-41E1-B441-620FC14B9FE6}" type="sibTrans" cxnId="{1B80481C-1784-48CC-A10E-83FF7D8B2873}">
      <dgm:prSet/>
      <dgm:spPr/>
      <dgm:t>
        <a:bodyPr/>
        <a:lstStyle/>
        <a:p>
          <a:endParaRPr lang="en-US"/>
        </a:p>
      </dgm:t>
    </dgm:pt>
    <dgm:pt modelId="{F27F518F-81F0-428F-97ED-F131EC816F33}" type="pres">
      <dgm:prSet presAssocID="{5B623884-6D9B-43D6-8336-A053F7483B43}" presName="diagram" presStyleCnt="0">
        <dgm:presLayoutVars>
          <dgm:dir/>
          <dgm:resizeHandles/>
        </dgm:presLayoutVars>
      </dgm:prSet>
      <dgm:spPr/>
    </dgm:pt>
    <dgm:pt modelId="{6CB3D91B-F438-49D7-95DB-DFEC92483EEB}" type="pres">
      <dgm:prSet presAssocID="{E8D21638-F64B-4472-B1F9-638083A83DC7}" presName="firstNode" presStyleLbl="node1" presStyleIdx="0" presStyleCnt="2">
        <dgm:presLayoutVars>
          <dgm:bulletEnabled val="1"/>
        </dgm:presLayoutVars>
      </dgm:prSet>
      <dgm:spPr/>
    </dgm:pt>
    <dgm:pt modelId="{F31627B7-8D19-4B02-A053-600E34C64F93}" type="pres">
      <dgm:prSet presAssocID="{CC8444AD-5EC4-43C2-AF63-CACD7BD87212}" presName="sibTrans" presStyleLbl="sibTrans2D1" presStyleIdx="0" presStyleCnt="1"/>
      <dgm:spPr/>
    </dgm:pt>
    <dgm:pt modelId="{5B12E474-9CE4-476B-BF31-B1E7D5C99879}" type="pres">
      <dgm:prSet presAssocID="{710B5AB7-E6EC-445F-9961-B6EC078538A5}" presName="lastNode" presStyleLbl="node1" presStyleIdx="1" presStyleCnt="2">
        <dgm:presLayoutVars>
          <dgm:bulletEnabled val="1"/>
        </dgm:presLayoutVars>
      </dgm:prSet>
      <dgm:spPr/>
    </dgm:pt>
  </dgm:ptLst>
  <dgm:cxnLst>
    <dgm:cxn modelId="{1B80481C-1784-48CC-A10E-83FF7D8B2873}" srcId="{5B623884-6D9B-43D6-8336-A053F7483B43}" destId="{710B5AB7-E6EC-445F-9961-B6EC078538A5}" srcOrd="1" destOrd="0" parTransId="{948F3238-4EFD-4DC9-B87E-5631A8D6428B}" sibTransId="{EA30F985-37DC-41E1-B441-620FC14B9FE6}"/>
    <dgm:cxn modelId="{7A3D145D-FB5E-4FF4-91D4-477F09113B85}" type="presOf" srcId="{CC8444AD-5EC4-43C2-AF63-CACD7BD87212}" destId="{F31627B7-8D19-4B02-A053-600E34C64F93}" srcOrd="0" destOrd="0" presId="urn:microsoft.com/office/officeart/2005/8/layout/bProcess2"/>
    <dgm:cxn modelId="{A20010A9-BEC5-4352-979D-2332D0B0BDAD}" type="presOf" srcId="{5B623884-6D9B-43D6-8336-A053F7483B43}" destId="{F27F518F-81F0-428F-97ED-F131EC816F33}" srcOrd="0" destOrd="0" presId="urn:microsoft.com/office/officeart/2005/8/layout/bProcess2"/>
    <dgm:cxn modelId="{6FEB9DB5-F57F-4B18-ADBD-C1A339B56B46}" type="presOf" srcId="{710B5AB7-E6EC-445F-9961-B6EC078538A5}" destId="{5B12E474-9CE4-476B-BF31-B1E7D5C99879}" srcOrd="0" destOrd="0" presId="urn:microsoft.com/office/officeart/2005/8/layout/bProcess2"/>
    <dgm:cxn modelId="{2EBC26C5-5638-487A-9F45-E7BBCE70BE12}" type="presOf" srcId="{E8D21638-F64B-4472-B1F9-638083A83DC7}" destId="{6CB3D91B-F438-49D7-95DB-DFEC92483EEB}" srcOrd="0" destOrd="0" presId="urn:microsoft.com/office/officeart/2005/8/layout/bProcess2"/>
    <dgm:cxn modelId="{BA89C0D5-3C6D-4669-A5D6-FB297EE0FE5B}" srcId="{5B623884-6D9B-43D6-8336-A053F7483B43}" destId="{E8D21638-F64B-4472-B1F9-638083A83DC7}" srcOrd="0" destOrd="0" parTransId="{D1C06EBA-898A-416E-BC31-3612EB7DB6F4}" sibTransId="{CC8444AD-5EC4-43C2-AF63-CACD7BD87212}"/>
    <dgm:cxn modelId="{F7D37800-3DEA-4D21-9C60-764038885EA0}" type="presParOf" srcId="{F27F518F-81F0-428F-97ED-F131EC816F33}" destId="{6CB3D91B-F438-49D7-95DB-DFEC92483EEB}" srcOrd="0" destOrd="0" presId="urn:microsoft.com/office/officeart/2005/8/layout/bProcess2"/>
    <dgm:cxn modelId="{A064FA5A-3BA2-417F-8EDE-7C262C4E23FF}" type="presParOf" srcId="{F27F518F-81F0-428F-97ED-F131EC816F33}" destId="{F31627B7-8D19-4B02-A053-600E34C64F93}" srcOrd="1" destOrd="0" presId="urn:microsoft.com/office/officeart/2005/8/layout/bProcess2"/>
    <dgm:cxn modelId="{4B656791-2846-4C38-879C-09205B7385C7}" type="presParOf" srcId="{F27F518F-81F0-428F-97ED-F131EC816F33}" destId="{5B12E474-9CE4-476B-BF31-B1E7D5C99879}" srcOrd="2" destOrd="0" presId="urn:microsoft.com/office/officeart/2005/8/layout/b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B3D91B-F438-49D7-95DB-DFEC92483EEB}">
      <dsp:nvSpPr>
        <dsp:cNvPr id="0" name=""/>
        <dsp:cNvSpPr/>
      </dsp:nvSpPr>
      <dsp:spPr>
        <a:xfrm>
          <a:off x="920181" y="1375"/>
          <a:ext cx="3596111" cy="359611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We used the Epileptic Seizure Recognition Data Set</a:t>
          </a:r>
        </a:p>
      </dsp:txBody>
      <dsp:txXfrm>
        <a:off x="1446819" y="528013"/>
        <a:ext cx="2542835" cy="2542835"/>
      </dsp:txXfrm>
    </dsp:sp>
    <dsp:sp modelId="{F31627B7-8D19-4B02-A053-600E34C64F93}">
      <dsp:nvSpPr>
        <dsp:cNvPr id="0" name=""/>
        <dsp:cNvSpPr/>
      </dsp:nvSpPr>
      <dsp:spPr>
        <a:xfrm rot="5400000">
          <a:off x="4812971" y="1322946"/>
          <a:ext cx="1258638" cy="952969"/>
        </a:xfrm>
        <a:prstGeom prst="triangl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B12E474-9CE4-476B-BF31-B1E7D5C99879}">
      <dsp:nvSpPr>
        <dsp:cNvPr id="0" name=""/>
        <dsp:cNvSpPr/>
      </dsp:nvSpPr>
      <dsp:spPr>
        <a:xfrm>
          <a:off x="6314348" y="1375"/>
          <a:ext cx="3596111" cy="3596111"/>
        </a:xfrm>
        <a:prstGeom prst="ellipse">
          <a:avLst/>
        </a:prstGeom>
        <a:solidFill>
          <a:schemeClr val="accent2">
            <a:hueOff val="-4620091"/>
            <a:satOff val="-1603"/>
            <a:lumOff val="58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It tracked the brain wave activity of 500 different individuals over the course of 23 seconds. </a:t>
          </a:r>
        </a:p>
      </dsp:txBody>
      <dsp:txXfrm>
        <a:off x="6840986" y="528013"/>
        <a:ext cx="2542835" cy="25428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2">
  <dgm:title val=""/>
  <dgm:desc val=""/>
  <dgm:catLst>
    <dgm:cat type="process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/>
    </dgm:varLst>
    <dgm:choose name="Name0">
      <dgm:if name="Name1" func="var" arg="dir" op="equ" val="norm">
        <dgm:alg type="snake">
          <dgm:param type="grDir" val="tL"/>
          <dgm:param type="flowDir" val="col"/>
          <dgm:param type="contDir" val="revDir"/>
        </dgm:alg>
      </dgm:if>
      <dgm:else name="Name2">
        <dgm:alg type="snake">
          <dgm:param type="grDir" val="tR"/>
          <dgm:param type="flowDir" val="col"/>
          <dgm:param type="contDir" val="revDi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firstNode" refType="w"/>
      <dgm:constr type="w" for="ch" forName="lastNode" refType="w" refFor="ch" refForName="firstNode" op="equ"/>
      <dgm:constr type="w" for="ch" forName="middleNode" refType="w" refFor="ch" refForName="firstNode" op="equ"/>
      <dgm:constr type="h" for="ch" ptType="sibTrans" refType="w" refFor="ch" refForName="middleNode" op="equ" fact="0.35"/>
      <dgm:constr type="sp" refType="w" refFor="ch" refForName="middleNode" fact="0.5"/>
      <dgm:constr type="connDist" for="des" ptType="sibTrans" op="equ"/>
      <dgm:constr type="primFontSz" for="ch" forName="firstNode" val="65"/>
      <dgm:constr type="primFontSz" for="ch" forName="lastNode" refType="primFontSz" refFor="ch" refForName="firstNode" op="equ"/>
      <dgm:constr type="primFontSz" for="des" forName="shape" val="65"/>
      <dgm:constr type="primFontSz" for="des" forName="shape" refType="primFontSz" refFor="ch" refForName="firstNode" op="lte"/>
      <dgm:constr type="primFontSz" for="des" forName="shape" refType="primFontSz" refFor="ch" refForName="lastNode" op="lte"/>
    </dgm:constrLst>
    <dgm:ruleLst/>
    <dgm:forEach name="Name3" axis="ch" ptType="node">
      <dgm:choose name="Name4">
        <dgm:if name="Name5" axis="self" ptType="node" func="pos" op="equ" val="1">
          <dgm:layoutNode name="fir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if name="Name6" axis="self" ptType="node" func="revPos" op="equ" val="1">
          <dgm:layoutNode name="lastNode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if>
        <dgm:else name="Name7">
          <dgm:layoutNode name="middleNod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  <dgm:constr type="w" for="ch" forName="padding" refType="w"/>
              <dgm:constr type="h" for="ch" forName="padding" refType="h"/>
              <dgm:constr type="w" for="ch" forName="shape" refType="w" fact="0.667"/>
              <dgm:constr type="h" for="ch" forName="shape" refType="h" fact="0.667"/>
              <dgm:constr type="ctrX" for="ch" forName="shape" refType="w" fact="0.5"/>
              <dgm:constr type="ctrY" for="ch" forName="shape" refType="h" fact="0.5"/>
            </dgm:constrLst>
            <dgm:ruleLst/>
            <dgm:layoutNode name="padding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shape">
              <dgm:varLst>
                <dgm:bulletEnabled val="1"/>
              </dgm:varLst>
              <dgm:alg type="tx">
                <dgm:param type="txAnchorVertCh" val="mid"/>
              </dgm:alg>
              <dgm:shape xmlns:r="http://schemas.openxmlformats.org/officeDocument/2006/relationships" type="ellipse" r:blip="">
                <dgm:adjLst/>
              </dgm:shape>
              <dgm:presOf axis="desOrSelf" ptType="node"/>
              <dgm:constrLst>
                <dgm:constr type="h" refType="w"/>
                <dgm:constr type="tMarg" refType="primFontSz" fact="0.1"/>
                <dgm:constr type="bMarg" refType="primFontSz" fact="0.1"/>
                <dgm:constr type="lMarg" refType="primFontSz" fact="0.1"/>
                <dgm:constr type="rMarg" refType="primFontSz" fact="0.1"/>
              </dgm:constrLst>
              <dgm:ruleLst>
                <dgm:rule type="primFontSz" val="5" fact="NaN" max="NaN"/>
              </dgm:ruleLst>
            </dgm:layoutNode>
          </dgm:layoutNode>
        </dgm:else>
      </dgm:choose>
      <dgm:forEach name="Name8" axis="followSib" ptType="sibTrans" cnt="1">
        <dgm:layoutNode name="sibTrans">
          <dgm:choose name="Name9">
            <dgm:if name="Name10" func="var" arg="dir" op="equ" val="norm">
              <dgm:choose name="Name11">
                <dgm:if name="Name12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3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4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if>
            <dgm:else name="Name15">
              <dgm:choose name="Name16">
                <dgm:if name="Name17" axis="self" ptType="sibTrans" func="pos" op="equ" val="1">
                  <dgm:alg type="conn">
                    <dgm:param type="begPts" val="auto"/>
                    <dgm:param type="endPts" val="auto"/>
                    <dgm:param type="srcNode" val="firstNode"/>
                    <dgm:param type="dstNode" val="shape"/>
                  </dgm:alg>
                </dgm:if>
                <dgm:if name="Name18" axis="self" ptType="sibTrans" func="revPos" op="equ" val="1">
                  <dgm:alg type="conn">
                    <dgm:param type="begPts" val="auto"/>
                    <dgm:param type="endPts" val="auto"/>
                    <dgm:param type="srcNode" val="shape"/>
                    <dgm:param type="dstNode" val="lastNode"/>
                  </dgm:alg>
                </dgm:if>
                <dgm:else name="Name19">
                  <dgm:alg type="conn">
                    <dgm:param type="begPts" val="auto"/>
                    <dgm:param type="endPts" val="auto"/>
                    <dgm:param type="srcNode" val="shape"/>
                    <dgm:param type="dstNode" val="shape"/>
                  </dgm:alg>
                </dgm:else>
              </dgm:choose>
            </dgm:else>
          </dgm:choose>
          <dgm:shape xmlns:r="http://schemas.openxmlformats.org/officeDocument/2006/relationships" rot="90" type="triangle" r:blip="">
            <dgm:adjLst/>
          </dgm:shape>
          <dgm:presOf axis="self"/>
          <dgm:constrLst>
            <dgm:constr type="w" refType="h"/>
            <dgm:constr type="connDist"/>
            <dgm:constr type="begPad" refType="connDist" fact="0.25"/>
            <dgm:constr type="endPad" refType="connDist" fact="0.22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334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72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846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882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1/14/2019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111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1/14/2019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410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1/14/2019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369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485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736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409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05187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599423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8986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1/14/2019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725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1/14/2019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8013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609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19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1/14/2019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3691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  <p:sldLayoutId id="2147483837" r:id="rId12"/>
    <p:sldLayoutId id="2147483838" r:id="rId13"/>
    <p:sldLayoutId id="2147483839" r:id="rId14"/>
    <p:sldLayoutId id="2147483840" r:id="rId15"/>
    <p:sldLayoutId id="2147483841" r:id="rId16"/>
    <p:sldLayoutId id="2147483842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C031CB-DEB3-405F-9996-5322C24A6A9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close up of a building&#10;&#10;Description generated with very high confidence">
            <a:extLst>
              <a:ext uri="{FF2B5EF4-FFF2-40B4-BE49-F238E27FC236}">
                <a16:creationId xmlns:a16="http://schemas.microsoft.com/office/drawing/2014/main" id="{92031F0E-C3FA-4DAF-BD13-4AC665CFF0F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Picture 11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BE685C68-BF28-4330-A4FE-33ABD88511A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49629"/>
            <a:ext cx="11525954" cy="27594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73350E1-40B5-47D9-8DDD-3C2A17B4B6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1" y="0"/>
            <a:ext cx="11525954" cy="5379499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2EE839-4C77-4812-8B05-4BA8D7CAFD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3113" y="756005"/>
            <a:ext cx="5874479" cy="1241761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rgbClr val="F09415"/>
                </a:solidFill>
              </a:rPr>
              <a:t>By Arpit Bajpai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4CC38-3C21-49E6-A7CC-36F461A81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63113" y="1997765"/>
            <a:ext cx="5872891" cy="2696635"/>
          </a:xfrm>
        </p:spPr>
        <p:txBody>
          <a:bodyPr>
            <a:normAutofit/>
          </a:bodyPr>
          <a:lstStyle/>
          <a:p>
            <a:r>
              <a:rPr lang="en-US" sz="4700" dirty="0">
                <a:solidFill>
                  <a:srgbClr val="FFFFFF"/>
                </a:solidFill>
              </a:rPr>
              <a:t>Identifying Seizures With Brain Wave Data</a:t>
            </a:r>
          </a:p>
        </p:txBody>
      </p:sp>
      <p:pic>
        <p:nvPicPr>
          <p:cNvPr id="16" name="Picture 15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A1500D0A-0DCA-4E06-8B25-618E6299CC9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4686838"/>
            <a:ext cx="1602997" cy="14427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08AC4DC-69B5-4DD1-84BC-850C5A2861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3034068"/>
            <a:ext cx="1602997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02214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5C757-148C-48F0-AFB8-5EDA79A4B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lang="en-US" dirty="0"/>
              <a:t>Background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8E4CB-CED1-474D-8422-17D679481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7672" y="2336873"/>
            <a:ext cx="6516509" cy="3599316"/>
          </a:xfrm>
        </p:spPr>
        <p:txBody>
          <a:bodyPr>
            <a:normAutofit/>
          </a:bodyPr>
          <a:lstStyle/>
          <a:p>
            <a:r>
              <a:rPr lang="en-US" dirty="0"/>
              <a:t>Data Collected with EEG</a:t>
            </a:r>
          </a:p>
          <a:p>
            <a:pPr lvl="1"/>
            <a:r>
              <a:rPr lang="en-US" dirty="0"/>
              <a:t>EEGs are often run to determine when people are having seizures. </a:t>
            </a:r>
          </a:p>
          <a:p>
            <a:pPr lvl="2"/>
            <a:r>
              <a:rPr lang="en-US" dirty="0"/>
              <a:t>Seizures are difficult to detect</a:t>
            </a:r>
          </a:p>
          <a:p>
            <a:pPr lvl="2"/>
            <a:r>
              <a:rPr lang="en-US" dirty="0"/>
              <a:t>Electrodes detect brain activity. </a:t>
            </a:r>
          </a:p>
          <a:p>
            <a:pPr lvl="2"/>
            <a:r>
              <a:rPr lang="en-US" dirty="0"/>
              <a:t>A classifier that very accurately predicts whether a seizure happened or didn’t happen can assist in making the correct diagnosis. </a:t>
            </a:r>
          </a:p>
          <a:p>
            <a:pPr lvl="2"/>
            <a:r>
              <a:rPr lang="en-US" dirty="0"/>
              <a:t>For Example: Specialists use this brain activity to assist them in determining epilepsy. </a:t>
            </a:r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5192C873-1256-4728-8AB6-1948C3E6AB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4325" y="2789813"/>
            <a:ext cx="2692907" cy="2692907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48904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CA6B6-E721-4BB7-A856-2B442E42D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lang="en-US" dirty="0"/>
              <a:t>Obtain: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CA12F92-BC4B-4D67-B660-4D6C5A3AD4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8434274"/>
              </p:ext>
            </p:extLst>
          </p:nvPr>
        </p:nvGraphicFramePr>
        <p:xfrm>
          <a:off x="681037" y="2336800"/>
          <a:ext cx="10830641" cy="359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80336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3A20A-EC06-4A8C-B768-28C9A3309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BE7A6-6161-4654-9BE4-A9E1493C5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9613861" cy="196241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Plotting our dataset shows us that the vast majority of points for most of our data lie near the mean. </a:t>
            </a:r>
          </a:p>
          <a:p>
            <a:pPr lvl="1"/>
            <a:r>
              <a:rPr lang="en-US" dirty="0"/>
              <a:t>This lets us know to go back and standardize the data so that we have more normal distributions to work with. </a:t>
            </a:r>
          </a:p>
          <a:p>
            <a:r>
              <a:rPr lang="en-US" dirty="0"/>
              <a:t>The fact that the data is anonymized made it much more difficult to get insights about specific independent variables.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863D0B-66ED-45FB-8361-40FEA8B41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21" y="4299284"/>
            <a:ext cx="10739423" cy="1909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979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8DCA3673-CDE4-40C5-9FA8-F89874CFBA7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35" descr="A close up of a building&#10;&#10;Description generated with very high confidence">
            <a:extLst>
              <a:ext uri="{FF2B5EF4-FFF2-40B4-BE49-F238E27FC236}">
                <a16:creationId xmlns:a16="http://schemas.microsoft.com/office/drawing/2014/main" id="{95756E8F-499C-4533-BBE8-309C3E8D985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0"/>
            <a:ext cx="12192000" cy="685800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0FFFD040-32A9-4D2B-86CA-599D030A41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63205CA-B7FF-4C25-A4C8-3BBBCE19D95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4959094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17ABAC-2F68-4EDC-86D1-A7A8C6DD9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4136123" cy="1080938"/>
          </a:xfrm>
        </p:spPr>
        <p:txBody>
          <a:bodyPr>
            <a:normAutofit/>
          </a:bodyPr>
          <a:lstStyle/>
          <a:p>
            <a:r>
              <a:rPr lang="en-US" sz="2400"/>
              <a:t>Modeling</a:t>
            </a:r>
          </a:p>
        </p:txBody>
      </p:sp>
      <p:pic>
        <p:nvPicPr>
          <p:cNvPr id="42" name="Picture 41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306E3F32-3C1A-4B6E-AF26-8A15A788560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4956048" cy="19978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8E74D-8877-4C6E-92AB-02A7E4138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337" y="2113873"/>
            <a:ext cx="4315326" cy="4447348"/>
          </a:xfrm>
        </p:spPr>
        <p:txBody>
          <a:bodyPr>
            <a:normAutofit fontScale="77500" lnSpcReduction="20000"/>
          </a:bodyPr>
          <a:lstStyle/>
          <a:p>
            <a:r>
              <a:rPr lang="en-US" sz="2300" dirty="0"/>
              <a:t>The most successful model for our particular dataset appeared to come by using a Random Forest with Grid Search. </a:t>
            </a:r>
          </a:p>
          <a:p>
            <a:r>
              <a:rPr lang="en-US" sz="2300" dirty="0"/>
              <a:t>While other models like Random-Forest with Grid Search, </a:t>
            </a:r>
            <a:r>
              <a:rPr lang="en-US" sz="2300" dirty="0" err="1"/>
              <a:t>XGBoost</a:t>
            </a:r>
            <a:r>
              <a:rPr lang="en-US" sz="2300" dirty="0"/>
              <a:t>, and SVM  had greater accuracy, or precisions, or F1 scores overall,  they were inferior predictors when it came to determining whether someone was having a seizure. </a:t>
            </a:r>
          </a:p>
          <a:p>
            <a:r>
              <a:rPr lang="en-US" sz="2300" dirty="0"/>
              <a:t>The accurate detection of a seizure it paramount for this classifier and that performance is greatest when using random forest with grid search.</a:t>
            </a:r>
          </a:p>
          <a:p>
            <a:r>
              <a:rPr lang="en-US" sz="2300" dirty="0"/>
              <a:t>Our Classifier predicts 99% of all seizures. Our accuracy doesn’t change a great deal between the train and test sets. </a:t>
            </a:r>
          </a:p>
          <a:p>
            <a:endParaRPr lang="en-US" sz="2000" dirty="0"/>
          </a:p>
        </p:txBody>
      </p:sp>
      <p:pic>
        <p:nvPicPr>
          <p:cNvPr id="9" name="Picture 8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D74F0F1A-7157-4677-837B-FA67F0657B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1909" y="640080"/>
            <a:ext cx="5577840" cy="5577840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95728285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2152</TotalTime>
  <Words>272</Words>
  <Application>Microsoft Office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Trebuchet MS</vt:lpstr>
      <vt:lpstr>Berlin</vt:lpstr>
      <vt:lpstr>Identifying Seizures With Brain Wave Data</vt:lpstr>
      <vt:lpstr>Background </vt:lpstr>
      <vt:lpstr>Obtain:</vt:lpstr>
      <vt:lpstr>Exploring</vt:lpstr>
      <vt:lpstr>Modeling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aaaaa bbbbbb</dc:creator>
  <cp:lastModifiedBy>aaaaa bbbbbb</cp:lastModifiedBy>
  <cp:revision>38</cp:revision>
  <dcterms:created xsi:type="dcterms:W3CDTF">2019-01-08T16:02:12Z</dcterms:created>
  <dcterms:modified xsi:type="dcterms:W3CDTF">2019-01-14T19:23:55Z</dcterms:modified>
</cp:coreProperties>
</file>